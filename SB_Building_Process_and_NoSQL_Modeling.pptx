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548640"/>
            <a:ext cx="11247120" cy="914400"/>
          </a:xfrm>
          <a:prstGeom prst="rect">
            <a:avLst/>
          </a:prstGeom>
          <a:noFill/>
          <a:ln/>
        </p:spPr>
        <p:txBody>
          <a:bodyPr wrap="square" rtlCol="0" anchor="ctr"/>
          <a:lstStyle/>
          <a:p>
            <a:pPr indent="0" marL="0">
              <a:buNone/>
            </a:pPr>
            <a:r>
              <a:rPr lang="en-US" sz="2800" b="1" dirty="0">
                <a:solidFill>
                  <a:srgbClr val="0F172A"/>
                </a:solidFill>
              </a:rPr>
              <a:t>Specifications Builder — Building Process &amp; NoSQL Modeling</a:t>
            </a:r>
            <a:endParaRPr lang="en-US" sz="2800" dirty="0"/>
          </a:p>
        </p:txBody>
      </p:sp>
      <p:sp>
        <p:nvSpPr>
          <p:cNvPr id="3" name="Text 1"/>
          <p:cNvSpPr/>
          <p:nvPr/>
        </p:nvSpPr>
        <p:spPr>
          <a:xfrm>
            <a:off x="457200" y="1371600"/>
            <a:ext cx="11247120" cy="548640"/>
          </a:xfrm>
          <a:prstGeom prst="rect">
            <a:avLst/>
          </a:prstGeom>
          <a:noFill/>
          <a:ln/>
        </p:spPr>
        <p:txBody>
          <a:bodyPr wrap="square" rtlCol="0" anchor="ctr"/>
          <a:lstStyle/>
          <a:p>
            <a:pPr indent="0" marL="0">
              <a:buNone/>
            </a:pPr>
            <a:r>
              <a:rPr lang="en-US" sz="1400" dirty="0">
                <a:solidFill>
                  <a:srgbClr val="334155"/>
                </a:solidFill>
              </a:rPr>
              <a:t>Sharding • Replica Sets • Vector Timestamps • MapReduce</a:t>
            </a:r>
            <a:endParaRPr lang="en-US" sz="1400" dirty="0"/>
          </a:p>
        </p:txBody>
      </p:sp>
      <p:sp>
        <p:nvSpPr>
          <p:cNvPr id="4" name="Text 2"/>
          <p:cNvSpPr/>
          <p:nvPr/>
        </p:nvSpPr>
        <p:spPr>
          <a:xfrm>
            <a:off x="548640" y="2011680"/>
            <a:ext cx="11155680" cy="1005840"/>
          </a:xfrm>
          <a:prstGeom prst="rect">
            <a:avLst/>
          </a:prstGeom>
          <a:noFill/>
          <a:ln/>
        </p:spPr>
        <p:txBody>
          <a:bodyPr wrap="square" rtlCol="0" anchor="ctr"/>
          <a:lstStyle/>
          <a:p>
            <a:pPr indent="0" marL="0">
              <a:buNone/>
            </a:pPr>
            <a:r>
              <a:rPr lang="en-US" sz="1400" dirty="0">
                <a:solidFill>
                  <a:srgbClr val="334155"/>
                </a:solidFill>
              </a:rPr>
              <a:t>This deck summarizes how the app is built and how the NoSQL model is designed (aggregates-based), with concrete sharding/replication/versioning/querying examples.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548640"/>
            <a:ext cx="11247120" cy="914400"/>
          </a:xfrm>
          <a:prstGeom prst="rect">
            <a:avLst/>
          </a:prstGeom>
          <a:noFill/>
          <a:ln/>
        </p:spPr>
        <p:txBody>
          <a:bodyPr wrap="square" rtlCol="0" anchor="ctr"/>
          <a:lstStyle/>
          <a:p>
            <a:pPr indent="0" marL="0">
              <a:buNone/>
            </a:pPr>
            <a:r>
              <a:rPr lang="en-US" sz="2800" b="1" dirty="0">
                <a:solidFill>
                  <a:srgbClr val="0F172A"/>
                </a:solidFill>
              </a:rPr>
              <a:t>Deliverable (input spec)</a:t>
            </a:r>
            <a:endParaRPr lang="en-US" sz="2800" dirty="0"/>
          </a:p>
        </p:txBody>
      </p:sp>
      <p:sp>
        <p:nvSpPr>
          <p:cNvPr id="3" name="Text 1"/>
          <p:cNvSpPr/>
          <p:nvPr/>
        </p:nvSpPr>
        <p:spPr>
          <a:xfrm>
            <a:off x="548640" y="1463040"/>
            <a:ext cx="11155680" cy="5486400"/>
          </a:xfrm>
          <a:prstGeom prst="rect">
            <a:avLst/>
          </a:prstGeom>
          <a:noFill/>
          <a:ln/>
        </p:spPr>
        <p:txBody>
          <a:bodyPr wrap="square" rtlCol="0" anchor="t"/>
          <a:lstStyle/>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Parfait, Deltes.
Tu veux **toutes les options** — et tu vas les avoir, mais de manière **structurée**, **complète**, **pratique**, et surtout **directement exploitable** pour ton projet Web.
Voici ce que je vais te livrer dans cette réponse :
1) Un schéma UML complet (NoSQL orienté agrégats)
2) Un diagramme d’architecture (sharding, réplication, cohérence, flux applicatif)
3) Des exemples de requêtes MongoDB (CRUD, index, cohérence, versioning)
4) Un plan de configuration MongoDB (replica set, sharding, writeConcern, readConcern)
5) Un exemple de code backend (Node.js)
6) Un exemple MapReduce
7) Une stratégie de versioning (timbres vectoriels)
8) Une stratégie de vues matérialisées
9) Une stratégie de modélisation orientée agrégats
10) Une synthèse finale
</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548640"/>
            <a:ext cx="11247120" cy="914400"/>
          </a:xfrm>
          <a:prstGeom prst="rect">
            <a:avLst/>
          </a:prstGeom>
          <a:noFill/>
          <a:ln/>
        </p:spPr>
        <p:txBody>
          <a:bodyPr wrap="square" rtlCol="0" anchor="ctr"/>
          <a:lstStyle/>
          <a:p>
            <a:pPr indent="0" marL="0">
              <a:buNone/>
            </a:pPr>
            <a:r>
              <a:rPr lang="en-US" sz="2800" b="1" dirty="0">
                <a:solidFill>
                  <a:srgbClr val="0F172A"/>
                </a:solidFill>
              </a:rPr>
              <a:t>Building process (how the app was conceived)</a:t>
            </a:r>
            <a:endParaRPr lang="en-US" sz="2800" dirty="0"/>
          </a:p>
        </p:txBody>
      </p:sp>
      <p:sp>
        <p:nvSpPr>
          <p:cNvPr id="3" name="Text 1"/>
          <p:cNvSpPr/>
          <p:nvPr/>
        </p:nvSpPr>
        <p:spPr>
          <a:xfrm>
            <a:off x="548640" y="1554480"/>
            <a:ext cx="5669280" cy="365760"/>
          </a:xfrm>
          <a:prstGeom prst="rect">
            <a:avLst/>
          </a:prstGeom>
          <a:noFill/>
          <a:ln/>
        </p:spPr>
        <p:txBody>
          <a:bodyPr wrap="square" rtlCol="0" anchor="ctr"/>
          <a:lstStyle/>
          <a:p>
            <a:pPr indent="0" marL="0">
              <a:buNone/>
            </a:pPr>
            <a:r>
              <a:rPr lang="en-US" sz="1600" b="1" dirty="0">
                <a:solidFill>
                  <a:srgbClr val="000000"/>
                </a:solidFill>
              </a:rPr>
              <a:t>App build steps</a:t>
            </a:r>
            <a:endParaRPr lang="en-US" sz="1600" dirty="0"/>
          </a:p>
        </p:txBody>
      </p:sp>
      <p:sp>
        <p:nvSpPr>
          <p:cNvPr id="4" name="Text 2"/>
          <p:cNvSpPr/>
          <p:nvPr/>
        </p:nvSpPr>
        <p:spPr>
          <a:xfrm>
            <a:off x="548640" y="1874520"/>
            <a:ext cx="5669280" cy="365760"/>
          </a:xfrm>
          <a:prstGeom prst="rect">
            <a:avLst/>
          </a:prstGeom>
          <a:noFill/>
          <a:ln/>
        </p:spPr>
        <p:txBody>
          <a:bodyPr wrap="square" rtlCol="0" anchor="ctr"/>
          <a:lstStyle/>
          <a:p>
            <a:pPr indent="0" marL="0">
              <a:buNone/>
            </a:pPr>
            <a:r>
              <a:rPr lang="en-US" sz="1200" dirty="0">
                <a:solidFill>
                  <a:srgbClr val="111827"/>
                </a:solidFill>
              </a:rPr>
              <a:t>• Domain-driven flow: create → edit sections → attach images → save → view as document.</a:t>
            </a:r>
            <a:endParaRPr lang="en-US" sz="1200" dirty="0"/>
          </a:p>
        </p:txBody>
      </p:sp>
      <p:sp>
        <p:nvSpPr>
          <p:cNvPr id="5" name="Text 3"/>
          <p:cNvSpPr/>
          <p:nvPr/>
        </p:nvSpPr>
        <p:spPr>
          <a:xfrm>
            <a:off x="548640" y="2103120"/>
            <a:ext cx="5669280" cy="365760"/>
          </a:xfrm>
          <a:prstGeom prst="rect">
            <a:avLst/>
          </a:prstGeom>
          <a:noFill/>
          <a:ln/>
        </p:spPr>
        <p:txBody>
          <a:bodyPr wrap="square" rtlCol="0" anchor="ctr"/>
          <a:lstStyle/>
          <a:p>
            <a:pPr indent="0" marL="0">
              <a:buNone/>
            </a:pPr>
            <a:r>
              <a:rPr lang="en-US" sz="1200" dirty="0">
                <a:solidFill>
                  <a:srgbClr val="111827"/>
                </a:solidFill>
              </a:rPr>
              <a:t>• MongoDB-first design: CDC (cahiers) stored as aggregates + section content as nested structures.</a:t>
            </a:r>
            <a:endParaRPr lang="en-US" sz="1200" dirty="0"/>
          </a:p>
        </p:txBody>
      </p:sp>
      <p:sp>
        <p:nvSpPr>
          <p:cNvPr id="6" name="Text 4"/>
          <p:cNvSpPr/>
          <p:nvPr/>
        </p:nvSpPr>
        <p:spPr>
          <a:xfrm>
            <a:off x="548640" y="2331720"/>
            <a:ext cx="5669280" cy="365760"/>
          </a:xfrm>
          <a:prstGeom prst="rect">
            <a:avLst/>
          </a:prstGeom>
          <a:noFill/>
          <a:ln/>
        </p:spPr>
        <p:txBody>
          <a:bodyPr wrap="square" rtlCol="0" anchor="ctr"/>
          <a:lstStyle/>
          <a:p>
            <a:pPr indent="0" marL="0">
              <a:buNone/>
            </a:pPr>
            <a:r>
              <a:rPr lang="en-US" sz="1200" dirty="0">
                <a:solidFill>
                  <a:srgbClr val="111827"/>
                </a:solidFill>
              </a:rPr>
              <a:t>• GridFS for images/diagrams, linked by metadata (cdcId + sectionKey).</a:t>
            </a:r>
            <a:endParaRPr lang="en-US" sz="1200" dirty="0"/>
          </a:p>
        </p:txBody>
      </p:sp>
      <p:sp>
        <p:nvSpPr>
          <p:cNvPr id="7" name="Text 5"/>
          <p:cNvSpPr/>
          <p:nvPr/>
        </p:nvSpPr>
        <p:spPr>
          <a:xfrm>
            <a:off x="548640" y="2560320"/>
            <a:ext cx="5669280" cy="365760"/>
          </a:xfrm>
          <a:prstGeom prst="rect">
            <a:avLst/>
          </a:prstGeom>
          <a:noFill/>
          <a:ln/>
        </p:spPr>
        <p:txBody>
          <a:bodyPr wrap="square" rtlCol="0" anchor="ctr"/>
          <a:lstStyle/>
          <a:p>
            <a:pPr indent="0" marL="0">
              <a:buNone/>
            </a:pPr>
            <a:r>
              <a:rPr lang="en-US" sz="1200" dirty="0">
                <a:solidFill>
                  <a:srgbClr val="111827"/>
                </a:solidFill>
              </a:rPr>
              <a:t>• Versioning support: each section update increments CDC version (foundation for vector timestamps).</a:t>
            </a:r>
            <a:endParaRPr lang="en-US" sz="1200" dirty="0"/>
          </a:p>
        </p:txBody>
      </p:sp>
      <p:sp>
        <p:nvSpPr>
          <p:cNvPr id="8" name="Text 6"/>
          <p:cNvSpPr/>
          <p:nvPr/>
        </p:nvSpPr>
        <p:spPr>
          <a:xfrm>
            <a:off x="548640" y="2788920"/>
            <a:ext cx="5669280" cy="365760"/>
          </a:xfrm>
          <a:prstGeom prst="rect">
            <a:avLst/>
          </a:prstGeom>
          <a:noFill/>
          <a:ln/>
        </p:spPr>
        <p:txBody>
          <a:bodyPr wrap="square" rtlCol="0" anchor="ctr"/>
          <a:lstStyle/>
          <a:p>
            <a:pPr indent="0" marL="0">
              <a:buNone/>
            </a:pPr>
            <a:r>
              <a:rPr lang="en-US" sz="1200" dirty="0">
                <a:solidFill>
                  <a:srgbClr val="111827"/>
                </a:solidFill>
              </a:rPr>
              <a:t>• Professional UI: dashboard shell + sidebar navigation + empty/error/loading states.</a:t>
            </a:r>
            <a:endParaRPr lang="en-US" sz="1200" dirty="0"/>
          </a:p>
        </p:txBody>
      </p:sp>
      <p:sp>
        <p:nvSpPr>
          <p:cNvPr id="9" name="Text 7"/>
          <p:cNvSpPr/>
          <p:nvPr/>
        </p:nvSpPr>
        <p:spPr>
          <a:xfrm>
            <a:off x="548640" y="3017520"/>
            <a:ext cx="5669280" cy="365760"/>
          </a:xfrm>
          <a:prstGeom prst="rect">
            <a:avLst/>
          </a:prstGeom>
          <a:noFill/>
          <a:ln/>
        </p:spPr>
        <p:txBody>
          <a:bodyPr wrap="square" rtlCol="0" anchor="ctr"/>
          <a:lstStyle/>
          <a:p>
            <a:pPr indent="0" marL="0">
              <a:buNone/>
            </a:pPr>
            <a:r>
              <a:rPr lang="en-US" sz="1200" dirty="0">
                <a:solidFill>
                  <a:srgbClr val="111827"/>
                </a:solidFill>
              </a:rPr>
              <a:t>• Localization: shared i18n dictionary drives UI text across FR/EN.</a:t>
            </a:r>
            <a:endParaRPr lang="en-US" sz="1200" dirty="0"/>
          </a:p>
        </p:txBody>
      </p:sp>
      <p:sp>
        <p:nvSpPr>
          <p:cNvPr id="10" name="Text 8"/>
          <p:cNvSpPr/>
          <p:nvPr/>
        </p:nvSpPr>
        <p:spPr>
          <a:xfrm>
            <a:off x="6217920" y="1554480"/>
            <a:ext cx="5303520" cy="365760"/>
          </a:xfrm>
          <a:prstGeom prst="rect">
            <a:avLst/>
          </a:prstGeom>
          <a:noFill/>
          <a:ln/>
        </p:spPr>
        <p:txBody>
          <a:bodyPr wrap="square" rtlCol="0" anchor="ctr"/>
          <a:lstStyle/>
          <a:p>
            <a:pPr indent="0" marL="0">
              <a:buNone/>
            </a:pPr>
            <a:r>
              <a:rPr lang="en-US" sz="1600" b="1" dirty="0">
                <a:solidFill>
                  <a:srgbClr val="000000"/>
                </a:solidFill>
              </a:rPr>
              <a:t>Key features</a:t>
            </a:r>
            <a:endParaRPr lang="en-US" sz="1600" dirty="0"/>
          </a:p>
        </p:txBody>
      </p:sp>
      <p:sp>
        <p:nvSpPr>
          <p:cNvPr id="11" name="Text 9"/>
          <p:cNvSpPr/>
          <p:nvPr/>
        </p:nvSpPr>
        <p:spPr>
          <a:xfrm>
            <a:off x="6217920" y="1874520"/>
            <a:ext cx="5303520" cy="365760"/>
          </a:xfrm>
          <a:prstGeom prst="rect">
            <a:avLst/>
          </a:prstGeom>
          <a:noFill/>
          <a:ln/>
        </p:spPr>
        <p:txBody>
          <a:bodyPr wrap="square" rtlCol="0" anchor="ctr"/>
          <a:lstStyle/>
          <a:p>
            <a:pPr indent="0" marL="0">
              <a:buNone/>
            </a:pPr>
            <a:r>
              <a:rPr lang="en-US" sz="1200" dirty="0">
                <a:solidFill>
                  <a:srgbClr val="111827"/>
                </a:solidFill>
              </a:rPr>
              <a:t>• Auth (NextAuth) protects dashboard and data routes.</a:t>
            </a:r>
            <a:endParaRPr lang="en-US" sz="1200" dirty="0"/>
          </a:p>
        </p:txBody>
      </p:sp>
      <p:sp>
        <p:nvSpPr>
          <p:cNvPr id="12" name="Text 10"/>
          <p:cNvSpPr/>
          <p:nvPr/>
        </p:nvSpPr>
        <p:spPr>
          <a:xfrm>
            <a:off x="6217920" y="2103120"/>
            <a:ext cx="5303520" cy="365760"/>
          </a:xfrm>
          <a:prstGeom prst="rect">
            <a:avLst/>
          </a:prstGeom>
          <a:noFill/>
          <a:ln/>
        </p:spPr>
        <p:txBody>
          <a:bodyPr wrap="square" rtlCol="0" anchor="ctr"/>
          <a:lstStyle/>
          <a:p>
            <a:pPr indent="0" marL="0">
              <a:buNone/>
            </a:pPr>
            <a:r>
              <a:rPr lang="en-US" sz="1200" dirty="0">
                <a:solidFill>
                  <a:srgbClr val="111827"/>
                </a:solidFill>
              </a:rPr>
              <a:t>• Guided editor: sections tree + dynamic fields config per section key.</a:t>
            </a:r>
            <a:endParaRPr lang="en-US" sz="1200" dirty="0"/>
          </a:p>
        </p:txBody>
      </p:sp>
      <p:sp>
        <p:nvSpPr>
          <p:cNvPr id="13" name="Text 11"/>
          <p:cNvSpPr/>
          <p:nvPr/>
        </p:nvSpPr>
        <p:spPr>
          <a:xfrm>
            <a:off x="6217920" y="2331720"/>
            <a:ext cx="5303520" cy="365760"/>
          </a:xfrm>
          <a:prstGeom prst="rect">
            <a:avLst/>
          </a:prstGeom>
          <a:noFill/>
          <a:ln/>
        </p:spPr>
        <p:txBody>
          <a:bodyPr wrap="square" rtlCol="0" anchor="ctr"/>
          <a:lstStyle/>
          <a:p>
            <a:pPr indent="0" marL="0">
              <a:buNone/>
            </a:pPr>
            <a:r>
              <a:rPr lang="en-US" sz="1200" dirty="0">
                <a:solidFill>
                  <a:srgbClr val="111827"/>
                </a:solidFill>
              </a:rPr>
              <a:t>• Read-only viewer: PDF-like rendering with table of contents and section parts.</a:t>
            </a:r>
            <a:endParaRPr lang="en-US" sz="1200" dirty="0"/>
          </a:p>
        </p:txBody>
      </p:sp>
      <p:sp>
        <p:nvSpPr>
          <p:cNvPr id="14" name="Text 12"/>
          <p:cNvSpPr/>
          <p:nvPr/>
        </p:nvSpPr>
        <p:spPr>
          <a:xfrm>
            <a:off x="6217920" y="2560320"/>
            <a:ext cx="5303520" cy="365760"/>
          </a:xfrm>
          <a:prstGeom prst="rect">
            <a:avLst/>
          </a:prstGeom>
          <a:noFill/>
          <a:ln/>
        </p:spPr>
        <p:txBody>
          <a:bodyPr wrap="square" rtlCol="0" anchor="ctr"/>
          <a:lstStyle/>
          <a:p>
            <a:pPr indent="0" marL="0">
              <a:buNone/>
            </a:pPr>
            <a:r>
              <a:rPr lang="en-US" sz="1200" dirty="0">
                <a:solidFill>
                  <a:srgbClr val="111827"/>
                </a:solidFill>
              </a:rPr>
              <a:t>• Assets gallery: search/filter by file name + metadata badges.</a:t>
            </a:r>
            <a:endParaRPr lang="en-US" sz="1200" dirty="0"/>
          </a:p>
        </p:txBody>
      </p:sp>
      <p:sp>
        <p:nvSpPr>
          <p:cNvPr id="15" name="Text 13"/>
          <p:cNvSpPr/>
          <p:nvPr/>
        </p:nvSpPr>
        <p:spPr>
          <a:xfrm>
            <a:off x="6217920" y="2788920"/>
            <a:ext cx="5303520" cy="365760"/>
          </a:xfrm>
          <a:prstGeom prst="rect">
            <a:avLst/>
          </a:prstGeom>
          <a:noFill/>
          <a:ln/>
        </p:spPr>
        <p:txBody>
          <a:bodyPr wrap="square" rtlCol="0" anchor="ctr"/>
          <a:lstStyle/>
          <a:p>
            <a:pPr indent="0" marL="0">
              <a:buNone/>
            </a:pPr>
            <a:r>
              <a:rPr lang="en-US" sz="1200" dirty="0">
                <a:solidFill>
                  <a:srgbClr val="111827"/>
                </a:solidFill>
              </a:rPr>
              <a:t>• CDC CRUD: list + view + edit + delete (confirmation dialog).</a:t>
            </a:r>
            <a:endParaRPr lang="en-US" sz="1200" dirty="0"/>
          </a:p>
        </p:txBody>
      </p:sp>
      <p:sp>
        <p:nvSpPr>
          <p:cNvPr id="16" name="Text 14"/>
          <p:cNvSpPr/>
          <p:nvPr/>
        </p:nvSpPr>
        <p:spPr>
          <a:xfrm>
            <a:off x="6217920" y="3017520"/>
            <a:ext cx="5303520" cy="365760"/>
          </a:xfrm>
          <a:prstGeom prst="rect">
            <a:avLst/>
          </a:prstGeom>
          <a:noFill/>
          <a:ln/>
        </p:spPr>
        <p:txBody>
          <a:bodyPr wrap="square" rtlCol="0" anchor="ctr"/>
          <a:lstStyle/>
          <a:p>
            <a:pPr indent="0" marL="0">
              <a:buNone/>
            </a:pPr>
            <a:r>
              <a:rPr lang="en-US" sz="1200" dirty="0">
                <a:solidFill>
                  <a:srgbClr val="111827"/>
                </a:solidFill>
              </a:rPr>
              <a:t>• API routes implement CRUD securely (per-user ownership).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548640"/>
            <a:ext cx="11247120" cy="914400"/>
          </a:xfrm>
          <a:prstGeom prst="rect">
            <a:avLst/>
          </a:prstGeom>
          <a:noFill/>
          <a:ln/>
        </p:spPr>
        <p:txBody>
          <a:bodyPr wrap="square" rtlCol="0" anchor="ctr"/>
          <a:lstStyle/>
          <a:p>
            <a:pPr indent="0" marL="0">
              <a:buNone/>
            </a:pPr>
            <a:r>
              <a:rPr lang="en-US" sz="2800" b="1" dirty="0">
                <a:solidFill>
                  <a:srgbClr val="0F172A"/>
                </a:solidFill>
              </a:rPr>
              <a:t>NoSQL conceptual model (UML / aggregates)</a:t>
            </a:r>
            <a:endParaRPr lang="en-US" sz="2800" dirty="0"/>
          </a:p>
        </p:txBody>
      </p:sp>
      <p:sp>
        <p:nvSpPr>
          <p:cNvPr id="3" name="Text 1"/>
          <p:cNvSpPr/>
          <p:nvPr/>
        </p:nvSpPr>
        <p:spPr>
          <a:xfrm>
            <a:off x="548640" y="1554480"/>
            <a:ext cx="11155680" cy="5303520"/>
          </a:xfrm>
          <a:prstGeom prst="rect">
            <a:avLst/>
          </a:prstGeom>
          <a:noFill/>
          <a:ln/>
        </p:spPr>
        <p:txBody>
          <a:bodyPr wrap="square" rtlCol="0" anchor="t"/>
          <a:lstStyle/>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User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userId (PK)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name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email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passwordHash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createdAt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 1..*</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CahierDesCharges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cdcId (PK)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userId (FK)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title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description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createdAt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versionStamp (vector)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documents[]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 1..*</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Document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docId (PK)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cdcId (FK)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fileName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url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size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mimeType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versionStamp (vector)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 uploadedAt               |</a:t>
            </a:r>
            <a:endParaRPr lang="en-US" sz="1200" dirty="0"/>
          </a:p>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548640"/>
            <a:ext cx="11247120" cy="914400"/>
          </a:xfrm>
          <a:prstGeom prst="rect">
            <a:avLst/>
          </a:prstGeom>
          <a:noFill/>
          <a:ln/>
        </p:spPr>
        <p:txBody>
          <a:bodyPr wrap="square" rtlCol="0" anchor="ctr"/>
          <a:lstStyle/>
          <a:p>
            <a:pPr indent="0" marL="0">
              <a:buNone/>
            </a:pPr>
            <a:r>
              <a:rPr lang="en-US" sz="2800" b="1" dirty="0">
                <a:solidFill>
                  <a:srgbClr val="0F172A"/>
                </a:solidFill>
              </a:rPr>
              <a:t>Architecture (sharding + replica sets + consistency)</a:t>
            </a:r>
            <a:endParaRPr lang="en-US" sz="2800" dirty="0"/>
          </a:p>
        </p:txBody>
      </p:sp>
      <p:sp>
        <p:nvSpPr>
          <p:cNvPr id="3" name="Text 1"/>
          <p:cNvSpPr/>
          <p:nvPr/>
        </p:nvSpPr>
        <p:spPr>
          <a:xfrm>
            <a:off x="548640" y="1554480"/>
            <a:ext cx="11155680" cy="5303520"/>
          </a:xfrm>
          <a:prstGeom prst="rect">
            <a:avLst/>
          </a:prstGeom>
          <a:noFill/>
          <a:ln/>
        </p:spPr>
        <p:txBody>
          <a:bodyPr wrap="square" rtlCol="0" anchor="t"/>
          <a:lstStyle/>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        Frontend Web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         API Backend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  (Node.js / Next.js routes)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                    MongoDB Cluster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   ┌──────────────┐   ┌──────────────┐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   │ Shard 1       │   │ Shard 2       │   │ Shard 3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   │ (userId hash) │   │ (userId hash) │   │ (userId..)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   └──────┬───────┘   └──────┬───────┘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          │                  │                  │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   ┌──────▼──────┐  ┌──────▼──────┐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   │ Replica Set A│  │ Replica Set B│  │ Replica Set C││</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   │ P — S — S    │  │ P — S — S    │  │ P — S — S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   └──────────────┘  └──────────────┘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Sharding: partition by userId (hashed)</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Replica sets: availability + majority consistency</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writeConcern: "majority"</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readConcern: "majority"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548640"/>
            <a:ext cx="11247120" cy="914400"/>
          </a:xfrm>
          <a:prstGeom prst="rect">
            <a:avLst/>
          </a:prstGeom>
          <a:noFill/>
          <a:ln/>
        </p:spPr>
        <p:txBody>
          <a:bodyPr wrap="square" rtlCol="0" anchor="ctr"/>
          <a:lstStyle/>
          <a:p>
            <a:pPr indent="0" marL="0">
              <a:buNone/>
            </a:pPr>
            <a:r>
              <a:rPr lang="en-US" sz="2800" b="1" dirty="0">
                <a:solidFill>
                  <a:srgbClr val="0F172A"/>
                </a:solidFill>
              </a:rPr>
              <a:t>Versioning strategy: vector timestamps (timbres vectoriels)</a:t>
            </a:r>
            <a:endParaRPr lang="en-US" sz="2800" dirty="0"/>
          </a:p>
        </p:txBody>
      </p:sp>
      <p:sp>
        <p:nvSpPr>
          <p:cNvPr id="3" name="Text 1"/>
          <p:cNvSpPr/>
          <p:nvPr/>
        </p:nvSpPr>
        <p:spPr>
          <a:xfrm>
            <a:off x="548640" y="1554480"/>
            <a:ext cx="11155680" cy="5303520"/>
          </a:xfrm>
          <a:prstGeom prst="rect">
            <a:avLst/>
          </a:prstGeom>
          <a:noFill/>
          <a:ln/>
        </p:spPr>
        <p:txBody>
          <a:bodyPr wrap="square" rtlCol="0" anchor="t"/>
          <a:lstStyle/>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For each aggregate (e.g., CDC):</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Maintain a vector clock / stamp per user (or per node / writer).</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On update by user u:</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versionStamp[u] += 1</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Store versionStamp alongside the updated aggregate.</a:t>
            </a:r>
            <a:endParaRPr lang="en-US" sz="1100" dirty="0"/>
          </a:p>
          <a:p>
            <a:pPr indent="0" marL="0">
              <a:lnSpc>
                <a:spcPct val="100000"/>
              </a:lnSpc>
              <a:buNone/>
            </a:pP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Example:</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versionStamp.u123 += 1</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versionStamp.u456 += 1</a:t>
            </a:r>
            <a:endParaRPr lang="en-US" sz="1100" dirty="0"/>
          </a:p>
          <a:p>
            <a:pPr indent="0" marL="0">
              <a:lnSpc>
                <a:spcPct val="100000"/>
              </a:lnSpc>
              <a:buNone/>
            </a:pP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Conflict resolution:</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If A &gt; B in all components =&gt; A is causally after B.</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If A and B are incomparable =&gt; concurrent updates =&gt; conflict to merge or rebase.</a:t>
            </a:r>
            <a:endParaRPr lang="en-US" sz="1100" dirty="0"/>
          </a:p>
          <a:p>
            <a:pPr indent="0" marL="0">
              <a:lnSpc>
                <a:spcPct val="100000"/>
              </a:lnSpc>
              <a:buNone/>
            </a:pP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Write path:</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1) read current aggregate + versionStamp</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2) compute next stamp locally</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3) PATCH aggregate atomically (server checks ownership/state)</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4) persist updated sections + updatedAt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548640"/>
            <a:ext cx="11247120" cy="914400"/>
          </a:xfrm>
          <a:prstGeom prst="rect">
            <a:avLst/>
          </a:prstGeom>
          <a:noFill/>
          <a:ln/>
        </p:spPr>
        <p:txBody>
          <a:bodyPr wrap="square" rtlCol="0" anchor="ctr"/>
          <a:lstStyle/>
          <a:p>
            <a:pPr indent="0" marL="0">
              <a:buNone/>
            </a:pPr>
            <a:r>
              <a:rPr lang="en-US" sz="2800" b="1" dirty="0">
                <a:solidFill>
                  <a:srgbClr val="0F172A"/>
                </a:solidFill>
              </a:rPr>
              <a:t>MongoDB configuration plan (replica set + sharding)</a:t>
            </a:r>
            <a:endParaRPr lang="en-US" sz="2800" dirty="0"/>
          </a:p>
        </p:txBody>
      </p:sp>
      <p:sp>
        <p:nvSpPr>
          <p:cNvPr id="3" name="Text 1"/>
          <p:cNvSpPr/>
          <p:nvPr/>
        </p:nvSpPr>
        <p:spPr>
          <a:xfrm>
            <a:off x="548640" y="1554480"/>
            <a:ext cx="11155680" cy="5303520"/>
          </a:xfrm>
          <a:prstGeom prst="rect">
            <a:avLst/>
          </a:prstGeom>
          <a:noFill/>
          <a:ln/>
        </p:spPr>
        <p:txBody>
          <a:bodyPr wrap="square" rtlCol="0" anchor="t"/>
          <a:lstStyle/>
          <a:p>
            <a:pPr indent="0" marL="0">
              <a:lnSpc>
                <a:spcPct val="100000"/>
              </a:lnSpc>
              <a:buNone/>
            </a:pPr>
            <a:r>
              <a:rPr lang="en-US" sz="1200" dirty="0">
                <a:solidFill>
                  <a:srgbClr val="111827"/>
                </a:solidFill>
                <a:latin typeface="Courier New" pitchFamily="34" charset="0"/>
                <a:ea typeface="Courier New" pitchFamily="34" charset="-122"/>
                <a:cs typeface="Courier New" pitchFamily="34" charset="-120"/>
              </a:rPr>
              <a:t>Replica set (3 nodes):
rs.initiate({
  _id: "rs0",
  members: [
    { _id: 0, host: "mongo1:27017" },
    { _id: 1, host: "mongo2:27017" },
    { _id: 2, host: "mongo3:27017" }
  ]
});
Sharding:
sh.enableSharding("mydb");
sh.shardCollection("mydb.cdc", { userId: "hashed" });
Consistency:
writeConcern: { w: "majority" }
readConcern: { level: "majority" }
</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548640"/>
            <a:ext cx="11247120" cy="914400"/>
          </a:xfrm>
          <a:prstGeom prst="rect">
            <a:avLst/>
          </a:prstGeom>
          <a:noFill/>
          <a:ln/>
        </p:spPr>
        <p:txBody>
          <a:bodyPr wrap="square" rtlCol="0" anchor="ctr"/>
          <a:lstStyle/>
          <a:p>
            <a:pPr indent="0" marL="0">
              <a:buNone/>
            </a:pPr>
            <a:r>
              <a:rPr lang="en-US" sz="2800" b="1" dirty="0">
                <a:solidFill>
                  <a:srgbClr val="0F172A"/>
                </a:solidFill>
              </a:rPr>
              <a:t>MongoDB examples (CRUD, indexes, versioning)</a:t>
            </a:r>
            <a:endParaRPr lang="en-US" sz="2800" dirty="0"/>
          </a:p>
        </p:txBody>
      </p:sp>
      <p:sp>
        <p:nvSpPr>
          <p:cNvPr id="3" name="Text 1"/>
          <p:cNvSpPr/>
          <p:nvPr/>
        </p:nvSpPr>
        <p:spPr>
          <a:xfrm>
            <a:off x="548640" y="1554480"/>
            <a:ext cx="11155680" cy="5303520"/>
          </a:xfrm>
          <a:prstGeom prst="rect">
            <a:avLst/>
          </a:prstGeom>
          <a:noFill/>
          <a:ln/>
        </p:spPr>
        <p:txBody>
          <a:bodyPr wrap="square" rtlCol="0" anchor="t"/>
          <a:lstStyle/>
          <a:p>
            <a:pPr indent="0" marL="0">
              <a:lnSpc>
                <a:spcPct val="100000"/>
              </a:lnSpc>
              <a:buNone/>
            </a:pPr>
            <a:r>
              <a:rPr lang="en-US" sz="1000" dirty="0">
                <a:solidFill>
                  <a:srgbClr val="111827"/>
                </a:solidFill>
                <a:latin typeface="Courier New" pitchFamily="34" charset="0"/>
                <a:ea typeface="Courier New" pitchFamily="34" charset="-122"/>
                <a:cs typeface="Courier New" pitchFamily="34" charset="-120"/>
              </a:rPr>
              <a:t>Create user:
db.users.insertOne({
  userId: "u123",
  name: "Martin",
  email: "martin@example.com",
  passwordHash: "...",
  createdAt: new Date()
});
Create CDC aggregate:
db.cdc.insertOne({
  cdcId: "cdc99",
  userId: "u123",
  title: "Site e-commerce",
  description: "Développement complet",
  createdAt: new Date(),
  versionStamp: { u123: 1 },
});
Update CDC with version stamp (concept):
db.cdc.updateOne(
  { _id: cdcId, userId: "u123" },
  { $set: { sections: nextSections, updatedAt: new Date() },
    $inc: { "versionStamp.u123": 1 },
  },
  { writeConcern: { w: "majority" } }
);
Indexes (typical):
db.cdc.createIndex({ userId: 1, updatedAt: -1 });
db.cdc.createIndex({ userId: 1, cdcId: 1 }, { unique: true });
</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548640"/>
            <a:ext cx="11247120" cy="914400"/>
          </a:xfrm>
          <a:prstGeom prst="rect">
            <a:avLst/>
          </a:prstGeom>
          <a:noFill/>
          <a:ln/>
        </p:spPr>
        <p:txBody>
          <a:bodyPr wrap="square" rtlCol="0" anchor="ctr"/>
          <a:lstStyle/>
          <a:p>
            <a:pPr indent="0" marL="0">
              <a:buNone/>
            </a:pPr>
            <a:r>
              <a:rPr lang="en-US" sz="2800" b="1" dirty="0">
                <a:solidFill>
                  <a:srgbClr val="0F172A"/>
                </a:solidFill>
              </a:rPr>
              <a:t>MapReduce example (statistics)</a:t>
            </a:r>
            <a:endParaRPr lang="en-US" sz="2800" dirty="0"/>
          </a:p>
        </p:txBody>
      </p:sp>
      <p:sp>
        <p:nvSpPr>
          <p:cNvPr id="3" name="Text 1"/>
          <p:cNvSpPr/>
          <p:nvPr/>
        </p:nvSpPr>
        <p:spPr>
          <a:xfrm>
            <a:off x="548640" y="1554480"/>
            <a:ext cx="11155680" cy="5303520"/>
          </a:xfrm>
          <a:prstGeom prst="rect">
            <a:avLst/>
          </a:prstGeom>
          <a:noFill/>
          <a:ln/>
        </p:spPr>
        <p:txBody>
          <a:bodyPr wrap="square" rtlCol="0" anchor="t"/>
          <a:lstStyle/>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Goal: count number of CDCs per user.
Map (emit one count per CDC):
function () {
  emit(this.userId, 1);
}
Reduce (sum):
function (key, values) {
  return Array.sum(values);
}
Mongo shell concept:
db.cdc.mapReduce(
  mapFn,
  reduceFn,
  { out: "cdcCountsByUser" }
);
</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548640"/>
            <a:ext cx="11247120" cy="914400"/>
          </a:xfrm>
          <a:prstGeom prst="rect">
            <a:avLst/>
          </a:prstGeom>
          <a:noFill/>
          <a:ln/>
        </p:spPr>
        <p:txBody>
          <a:bodyPr wrap="square" rtlCol="0" anchor="ctr"/>
          <a:lstStyle/>
          <a:p>
            <a:pPr indent="0" marL="0">
              <a:buNone/>
            </a:pPr>
            <a:r>
              <a:rPr lang="en-US" sz="2800" b="1" dirty="0">
                <a:solidFill>
                  <a:srgbClr val="0F172A"/>
                </a:solidFill>
              </a:rPr>
              <a:t>Backend sample (Node.js) — consistency-focused</a:t>
            </a:r>
            <a:endParaRPr lang="en-US" sz="2800" dirty="0"/>
          </a:p>
        </p:txBody>
      </p:sp>
      <p:sp>
        <p:nvSpPr>
          <p:cNvPr id="3" name="Text 1"/>
          <p:cNvSpPr/>
          <p:nvPr/>
        </p:nvSpPr>
        <p:spPr>
          <a:xfrm>
            <a:off x="548640" y="1554480"/>
            <a:ext cx="11155680" cy="5303520"/>
          </a:xfrm>
          <a:prstGeom prst="rect">
            <a:avLst/>
          </a:prstGeom>
          <a:noFill/>
          <a:ln/>
        </p:spPr>
        <p:txBody>
          <a:bodyPr wrap="square" rtlCol="0" anchor="t"/>
          <a:lstStyle/>
          <a:p>
            <a:pPr indent="0" marL="0">
              <a:lnSpc>
                <a:spcPct val="100000"/>
              </a:lnSpc>
              <a:buNone/>
            </a:pPr>
            <a:r>
              <a:rPr lang="en-US" sz="1000" dirty="0">
                <a:solidFill>
                  <a:srgbClr val="111827"/>
                </a:solidFill>
                <a:latin typeface="Courier New" pitchFamily="34" charset="0"/>
                <a:ea typeface="Courier New" pitchFamily="34" charset="-122"/>
                <a:cs typeface="Courier New" pitchFamily="34" charset="-120"/>
              </a:rPr>
              <a:t>MongoClient connection:
const client = new MongoClient(uri, {
  writeConcern: { w: "majority" },
  readConcern: { level: "majority" },
});
CRUD concept (aggregate update):
// PATCH section content:
const res = await db.collection("cdc").updateOne(
  { _id: cdcObjectId, userId },
  { $set: { sections: nextSections, updatedAt: new Date() },
    $inc: { "versionStamp.u123": 1 }
  },
  { writeConcern: { w: "majority" } }
);
// Read with majority:
const doc = await db.collection("cdc")
  .findOne({ _id: cdcObjectId, userId }, { readConcern: { level: "majority" } });
</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548640"/>
            <a:ext cx="11247120" cy="914400"/>
          </a:xfrm>
          <a:prstGeom prst="rect">
            <a:avLst/>
          </a:prstGeom>
          <a:noFill/>
          <a:ln/>
        </p:spPr>
        <p:txBody>
          <a:bodyPr wrap="square" rtlCol="0" anchor="ctr"/>
          <a:lstStyle/>
          <a:p>
            <a:pPr indent="0" marL="0">
              <a:buNone/>
            </a:pPr>
            <a:r>
              <a:rPr lang="en-US" sz="2800" b="1" dirty="0">
                <a:solidFill>
                  <a:srgbClr val="0F172A"/>
                </a:solidFill>
              </a:rPr>
              <a:t>Materialized views + aggregates strategy</a:t>
            </a:r>
            <a:endParaRPr lang="en-US" sz="2800" dirty="0"/>
          </a:p>
        </p:txBody>
      </p:sp>
      <p:sp>
        <p:nvSpPr>
          <p:cNvPr id="3" name="Text 1"/>
          <p:cNvSpPr/>
          <p:nvPr/>
        </p:nvSpPr>
        <p:spPr>
          <a:xfrm>
            <a:off x="548640" y="1554480"/>
            <a:ext cx="11155680" cy="2651760"/>
          </a:xfrm>
          <a:prstGeom prst="rect">
            <a:avLst/>
          </a:prstGeom>
          <a:noFill/>
          <a:ln/>
        </p:spPr>
        <p:txBody>
          <a:bodyPr wrap="square" rtlCol="0" anchor="t"/>
          <a:lstStyle/>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Example materialized view (concept):</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"userId": "u123",</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"cdcList":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 "cdcId": "cdc99", "title": "Site e-commerce"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a:t>
            </a:r>
            <a:endParaRPr lang="en-US" sz="1100" dirty="0"/>
          </a:p>
          <a:p>
            <a:pPr indent="0" marL="0">
              <a:lnSpc>
                <a:spcPct val="100000"/>
              </a:lnSpc>
              <a:buNone/>
            </a:pP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Update strategy: eager (on CDC create/update)</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on CDC insert:</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append into cdcList</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on CDC update:</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    update title/metadata</a:t>
            </a:r>
            <a:endParaRPr lang="en-US" sz="1100" dirty="0"/>
          </a:p>
          <a:p>
            <a:pPr indent="0" marL="0">
              <a:lnSpc>
                <a:spcPct val="100000"/>
              </a:lnSpc>
              <a:buNone/>
            </a:pPr>
            <a:r>
              <a:rPr lang="en-US" sz="1100" dirty="0">
                <a:solidFill>
                  <a:srgbClr val="111827"/>
                </a:solidFill>
                <a:latin typeface="Courier New" pitchFamily="34" charset="0"/>
                <a:ea typeface="Courier New" pitchFamily="34" charset="-122"/>
                <a:cs typeface="Courier New" pitchFamily="34" charset="-120"/>
              </a:rPr>
              <a:t>}</a:t>
            </a:r>
            <a:endParaRPr lang="en-US" sz="1100" dirty="0"/>
          </a:p>
        </p:txBody>
      </p:sp>
      <p:sp>
        <p:nvSpPr>
          <p:cNvPr id="4" name="Text 2"/>
          <p:cNvSpPr/>
          <p:nvPr/>
        </p:nvSpPr>
        <p:spPr>
          <a:xfrm>
            <a:off x="548640" y="4297680"/>
            <a:ext cx="11155680" cy="365760"/>
          </a:xfrm>
          <a:prstGeom prst="rect">
            <a:avLst/>
          </a:prstGeom>
          <a:noFill/>
          <a:ln/>
        </p:spPr>
        <p:txBody>
          <a:bodyPr wrap="square" rtlCol="0" anchor="ctr"/>
          <a:lstStyle/>
          <a:p>
            <a:pPr indent="0" marL="0">
              <a:buNone/>
            </a:pPr>
            <a:r>
              <a:rPr lang="en-US" sz="1200" dirty="0">
                <a:solidFill>
                  <a:srgbClr val="111827"/>
                </a:solidFill>
              </a:rPr>
              <a:t>• User = independent aggregate (authentication/ownership).</a:t>
            </a:r>
            <a:endParaRPr lang="en-US" sz="1200" dirty="0"/>
          </a:p>
        </p:txBody>
      </p:sp>
      <p:sp>
        <p:nvSpPr>
          <p:cNvPr id="5" name="Text 3"/>
          <p:cNvSpPr/>
          <p:nvPr/>
        </p:nvSpPr>
        <p:spPr>
          <a:xfrm>
            <a:off x="548640" y="4526280"/>
            <a:ext cx="11155680" cy="365760"/>
          </a:xfrm>
          <a:prstGeom prst="rect">
            <a:avLst/>
          </a:prstGeom>
          <a:noFill/>
          <a:ln/>
        </p:spPr>
        <p:txBody>
          <a:bodyPr wrap="square" rtlCol="0" anchor="ctr"/>
          <a:lstStyle/>
          <a:p>
            <a:pPr indent="0" marL="0">
              <a:buNone/>
            </a:pPr>
            <a:r>
              <a:rPr lang="en-US" sz="1200" dirty="0">
                <a:solidFill>
                  <a:srgbClr val="111827"/>
                </a:solidFill>
              </a:rPr>
              <a:t>• CDC = main aggregate (sections nested as structured content).</a:t>
            </a:r>
            <a:endParaRPr lang="en-US" sz="1200" dirty="0"/>
          </a:p>
        </p:txBody>
      </p:sp>
      <p:sp>
        <p:nvSpPr>
          <p:cNvPr id="6" name="Text 4"/>
          <p:cNvSpPr/>
          <p:nvPr/>
        </p:nvSpPr>
        <p:spPr>
          <a:xfrm>
            <a:off x="548640" y="4754880"/>
            <a:ext cx="11155680" cy="365760"/>
          </a:xfrm>
          <a:prstGeom prst="rect">
            <a:avLst/>
          </a:prstGeom>
          <a:noFill/>
          <a:ln/>
        </p:spPr>
        <p:txBody>
          <a:bodyPr wrap="square" rtlCol="0" anchor="ctr"/>
          <a:lstStyle/>
          <a:p>
            <a:pPr indent="0" marL="0">
              <a:buNone/>
            </a:pPr>
            <a:r>
              <a:rPr lang="en-US" sz="1200" dirty="0">
                <a:solidFill>
                  <a:srgbClr val="111827"/>
                </a:solidFill>
              </a:rPr>
              <a:t>• Assets/diagrams = stored in GridFS + metadata linked to sectionKey.</a:t>
            </a:r>
            <a:endParaRPr lang="en-US" sz="1200" dirty="0"/>
          </a:p>
        </p:txBody>
      </p:sp>
      <p:sp>
        <p:nvSpPr>
          <p:cNvPr id="7" name="Text 5"/>
          <p:cNvSpPr/>
          <p:nvPr/>
        </p:nvSpPr>
        <p:spPr>
          <a:xfrm>
            <a:off x="548640" y="4983480"/>
            <a:ext cx="11155680" cy="365760"/>
          </a:xfrm>
          <a:prstGeom prst="rect">
            <a:avLst/>
          </a:prstGeom>
          <a:noFill/>
          <a:ln/>
        </p:spPr>
        <p:txBody>
          <a:bodyPr wrap="square" rtlCol="0" anchor="ctr"/>
          <a:lstStyle/>
          <a:p>
            <a:pPr indent="0" marL="0">
              <a:buNone/>
            </a:pPr>
            <a:r>
              <a:rPr lang="en-US" sz="1200" dirty="0">
                <a:solidFill>
                  <a:srgbClr val="111827"/>
                </a:solidFill>
              </a:rPr>
              <a:t>• Relations via IDs, avoid joins; denormalize for read performance.</a:t>
            </a:r>
            <a:endParaRPr lang="en-US" sz="1200" dirty="0"/>
          </a:p>
        </p:txBody>
      </p:sp>
      <p:sp>
        <p:nvSpPr>
          <p:cNvPr id="8" name="Text 6"/>
          <p:cNvSpPr/>
          <p:nvPr/>
        </p:nvSpPr>
        <p:spPr>
          <a:xfrm>
            <a:off x="548640" y="5212080"/>
            <a:ext cx="11155680" cy="365760"/>
          </a:xfrm>
          <a:prstGeom prst="rect">
            <a:avLst/>
          </a:prstGeom>
          <a:noFill/>
          <a:ln/>
        </p:spPr>
        <p:txBody>
          <a:bodyPr wrap="square" rtlCol="0" anchor="ctr"/>
          <a:lstStyle/>
          <a:p>
            <a:pPr indent="0" marL="0">
              <a:buNone/>
            </a:pPr>
            <a:r>
              <a:rPr lang="en-US" sz="1200" dirty="0">
                <a:solidFill>
                  <a:srgbClr val="111827"/>
                </a:solidFill>
              </a:rPr>
              <a:t>• Sharding key: userId (hashed) for even distribution.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548640"/>
            <a:ext cx="11247120" cy="914400"/>
          </a:xfrm>
          <a:prstGeom prst="rect">
            <a:avLst/>
          </a:prstGeom>
          <a:noFill/>
          <a:ln/>
        </p:spPr>
        <p:txBody>
          <a:bodyPr wrap="square" rtlCol="0" anchor="ctr"/>
          <a:lstStyle/>
          <a:p>
            <a:pPr indent="0" marL="0">
              <a:buNone/>
            </a:pPr>
            <a:r>
              <a:rPr lang="en-US" sz="2800" b="1" dirty="0">
                <a:solidFill>
                  <a:srgbClr val="0F172A"/>
                </a:solidFill>
              </a:rPr>
              <a:t>Final synthesis (how to apply it)</a:t>
            </a:r>
            <a:endParaRPr lang="en-US" sz="2800" dirty="0"/>
          </a:p>
        </p:txBody>
      </p:sp>
      <p:sp>
        <p:nvSpPr>
          <p:cNvPr id="3" name="Text 1"/>
          <p:cNvSpPr/>
          <p:nvPr/>
        </p:nvSpPr>
        <p:spPr>
          <a:xfrm>
            <a:off x="640080" y="1645920"/>
            <a:ext cx="10972800" cy="365760"/>
          </a:xfrm>
          <a:prstGeom prst="rect">
            <a:avLst/>
          </a:prstGeom>
          <a:noFill/>
          <a:ln/>
        </p:spPr>
        <p:txBody>
          <a:bodyPr wrap="square" rtlCol="0" anchor="ctr"/>
          <a:lstStyle/>
          <a:p>
            <a:pPr indent="0" marL="0">
              <a:buNone/>
            </a:pPr>
            <a:r>
              <a:rPr lang="en-US" sz="1200" dirty="0">
                <a:solidFill>
                  <a:srgbClr val="111827"/>
                </a:solidFill>
              </a:rPr>
              <a:t>• Model in aggregates: User + CDC (with nested sections) + Assets (GridFS).</a:t>
            </a:r>
            <a:endParaRPr lang="en-US" sz="1200" dirty="0"/>
          </a:p>
        </p:txBody>
      </p:sp>
      <p:sp>
        <p:nvSpPr>
          <p:cNvPr id="4" name="Text 2"/>
          <p:cNvSpPr/>
          <p:nvPr/>
        </p:nvSpPr>
        <p:spPr>
          <a:xfrm>
            <a:off x="640080" y="1874520"/>
            <a:ext cx="10972800" cy="365760"/>
          </a:xfrm>
          <a:prstGeom prst="rect">
            <a:avLst/>
          </a:prstGeom>
          <a:noFill/>
          <a:ln/>
        </p:spPr>
        <p:txBody>
          <a:bodyPr wrap="square" rtlCol="0" anchor="ctr"/>
          <a:lstStyle/>
          <a:p>
            <a:pPr indent="0" marL="0">
              <a:buNone/>
            </a:pPr>
            <a:r>
              <a:rPr lang="en-US" sz="1200" dirty="0">
                <a:solidFill>
                  <a:srgbClr val="111827"/>
                </a:solidFill>
              </a:rPr>
              <a:t>• Sharding: enable sharding, shard by userId hashed on the main aggregate collection.</a:t>
            </a:r>
            <a:endParaRPr lang="en-US" sz="1200" dirty="0"/>
          </a:p>
        </p:txBody>
      </p:sp>
      <p:sp>
        <p:nvSpPr>
          <p:cNvPr id="5" name="Text 3"/>
          <p:cNvSpPr/>
          <p:nvPr/>
        </p:nvSpPr>
        <p:spPr>
          <a:xfrm>
            <a:off x="640080" y="2103120"/>
            <a:ext cx="10972800" cy="365760"/>
          </a:xfrm>
          <a:prstGeom prst="rect">
            <a:avLst/>
          </a:prstGeom>
          <a:noFill/>
          <a:ln/>
        </p:spPr>
        <p:txBody>
          <a:bodyPr wrap="square" rtlCol="0" anchor="ctr"/>
          <a:lstStyle/>
          <a:p>
            <a:pPr indent="0" marL="0">
              <a:buNone/>
            </a:pPr>
            <a:r>
              <a:rPr lang="en-US" sz="1200" dirty="0">
                <a:solidFill>
                  <a:srgbClr val="111827"/>
                </a:solidFill>
              </a:rPr>
              <a:t>• Replica sets: deploy 3-node replica sets per shard, use majority write/read.</a:t>
            </a:r>
            <a:endParaRPr lang="en-US" sz="1200" dirty="0"/>
          </a:p>
        </p:txBody>
      </p:sp>
      <p:sp>
        <p:nvSpPr>
          <p:cNvPr id="6" name="Text 4"/>
          <p:cNvSpPr/>
          <p:nvPr/>
        </p:nvSpPr>
        <p:spPr>
          <a:xfrm>
            <a:off x="640080" y="2331720"/>
            <a:ext cx="10972800" cy="365760"/>
          </a:xfrm>
          <a:prstGeom prst="rect">
            <a:avLst/>
          </a:prstGeom>
          <a:noFill/>
          <a:ln/>
        </p:spPr>
        <p:txBody>
          <a:bodyPr wrap="square" rtlCol="0" anchor="ctr"/>
          <a:lstStyle/>
          <a:p>
            <a:pPr indent="0" marL="0">
              <a:buNone/>
            </a:pPr>
            <a:r>
              <a:rPr lang="en-US" sz="1200" dirty="0">
                <a:solidFill>
                  <a:srgbClr val="111827"/>
                </a:solidFill>
              </a:rPr>
              <a:t>• Vector timbres: increment versionStamp on every update, compare stamps for conflicts.</a:t>
            </a:r>
            <a:endParaRPr lang="en-US" sz="1200" dirty="0"/>
          </a:p>
        </p:txBody>
      </p:sp>
      <p:sp>
        <p:nvSpPr>
          <p:cNvPr id="7" name="Text 5"/>
          <p:cNvSpPr/>
          <p:nvPr/>
        </p:nvSpPr>
        <p:spPr>
          <a:xfrm>
            <a:off x="640080" y="2560320"/>
            <a:ext cx="10972800" cy="365760"/>
          </a:xfrm>
          <a:prstGeom prst="rect">
            <a:avLst/>
          </a:prstGeom>
          <a:noFill/>
          <a:ln/>
        </p:spPr>
        <p:txBody>
          <a:bodyPr wrap="square" rtlCol="0" anchor="ctr"/>
          <a:lstStyle/>
          <a:p>
            <a:pPr indent="0" marL="0">
              <a:buNone/>
            </a:pPr>
            <a:r>
              <a:rPr lang="en-US" sz="1200" dirty="0">
                <a:solidFill>
                  <a:srgbClr val="111827"/>
                </a:solidFill>
              </a:rPr>
              <a:t>• MapReduce: run statistics on CDCs/assets for reporting and analytics.</a:t>
            </a:r>
            <a:endParaRPr lang="en-US" sz="1200" dirty="0"/>
          </a:p>
        </p:txBody>
      </p:sp>
      <p:sp>
        <p:nvSpPr>
          <p:cNvPr id="8" name="Text 6"/>
          <p:cNvSpPr/>
          <p:nvPr/>
        </p:nvSpPr>
        <p:spPr>
          <a:xfrm>
            <a:off x="640080" y="2788920"/>
            <a:ext cx="10972800" cy="365760"/>
          </a:xfrm>
          <a:prstGeom prst="rect">
            <a:avLst/>
          </a:prstGeom>
          <a:noFill/>
          <a:ln/>
        </p:spPr>
        <p:txBody>
          <a:bodyPr wrap="square" rtlCol="0" anchor="ctr"/>
          <a:lstStyle/>
          <a:p>
            <a:pPr indent="0" marL="0">
              <a:buNone/>
            </a:pPr>
            <a:r>
              <a:rPr lang="en-US" sz="1200" dirty="0">
                <a:solidFill>
                  <a:srgbClr val="111827"/>
                </a:solidFill>
              </a:rPr>
              <a:t>• Materialized views: precompute dashboard lists for fast UI responses.</a:t>
            </a:r>
            <a:endParaRPr lang="en-US" sz="1200" dirty="0"/>
          </a:p>
        </p:txBody>
      </p:sp>
      <p:sp>
        <p:nvSpPr>
          <p:cNvPr id="9" name="Text 7"/>
          <p:cNvSpPr/>
          <p:nvPr/>
        </p:nvSpPr>
        <p:spPr>
          <a:xfrm>
            <a:off x="640080" y="3017520"/>
            <a:ext cx="10972800" cy="365760"/>
          </a:xfrm>
          <a:prstGeom prst="rect">
            <a:avLst/>
          </a:prstGeom>
          <a:noFill/>
          <a:ln/>
        </p:spPr>
        <p:txBody>
          <a:bodyPr wrap="square" rtlCol="0" anchor="ctr"/>
          <a:lstStyle/>
          <a:p>
            <a:pPr indent="0" marL="0">
              <a:buNone/>
            </a:pPr>
            <a:r>
              <a:rPr lang="en-US" sz="1200" dirty="0">
                <a:solidFill>
                  <a:srgbClr val="111827"/>
                </a:solidFill>
              </a:rPr>
              <a:t>• Backend: enforce per-user ownership at API routes; keep updates atomic per aggregate.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Specifications Builder — Building Process &amp; NoSQL Modeling</dc:title>
  <dc:subject>Building process + NoSQL modeling</dc:subject>
  <dc:creator>Specifications Builder</dc:creator>
  <cp:lastModifiedBy>Specifications Builder</cp:lastModifiedBy>
  <cp:revision>1</cp:revision>
  <dcterms:created xsi:type="dcterms:W3CDTF">2026-03-20T15:19:04Z</dcterms:created>
  <dcterms:modified xsi:type="dcterms:W3CDTF">2026-03-20T15:19:04Z</dcterms:modified>
</cp:coreProperties>
</file>